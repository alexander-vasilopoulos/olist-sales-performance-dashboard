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12A1DBF-3B79-429C-B883-DCB58C3E45A9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the audience and state the one-line goal: turning raw order data into decisions Olist could actually act on. ~30 seconds.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EC3DB5-5812-41E6-8CB3-25E8E7F623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Quickly preview the five sections so the audience knows the shape of the talk. Don't linger — 30 seconds.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254969-30A7-4024-8AEE-40435149F7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the dataset briefly: real anonymized marketplace data, 2016-2018, multiple relational tables. Read the guiding question aloud — it frames everything that follows. ~1 minute.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DE7211-493C-461D-946E-F1A0B1E558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 the audience with the headline numbers before diving into detail. Point out the revenue dip at the very end is a partial-month data artifact, not a business collapse — shows attention to data quality. ~1.5 minutes.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DA35B2-5994-4AC6-8219-A1FFD32F62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Southeast dominance and the 97% one-time-buyer stat are the two soundbites here. Note the North AOV/freight insight briefly. ~1.5 minutes.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B90F10-3A67-4B38-8FCB-F0443841BF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standout chart of the deck — slow down here. Walk left to right: early delivery, on-time, then the visible drop for late orders. State the number: 7+ days late orders average nearly a full star lower than on-time ones. ~2 minutes.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6191F5-CB9B-41D7-AA79-04C802E419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most differentiated part of the project — spend real time here. Explain briefly how the score works (revenue + speed + volume, normalized against the average to avoid outlier skew), then land on the organic-search-plus-industry finding and the attribution-gap caveat. ~2.5 minutes.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5242E3-64BA-40FA-8343-27D6B9A451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four recommendations at a steady pace, tying each back to a chart already shown. ~2 minutes.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229271-7375-4E76-8591-0B4AAA7FF3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the audience and open the floor. ~30 seconds.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6FCD33-695C-4C54-BB6B-0933F1562E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A5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778240" y="-2011680"/>
            <a:ext cx="5667480" cy="5667480"/>
          </a:xfrm>
          <a:prstGeom prst="ellipse">
            <a:avLst/>
          </a:prstGeom>
          <a:solidFill>
            <a:srgbClr val="3E4E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2286000" y="4389120"/>
            <a:ext cx="4570200" cy="4570200"/>
          </a:xfrm>
          <a:prstGeom prst="ellipse">
            <a:avLst/>
          </a:prstGeom>
          <a:solidFill>
            <a:srgbClr val="3E4E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233172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97C459"/>
                </a:solidFill>
                <a:effectLst/>
                <a:uFillTx/>
                <a:latin typeface="Calibri"/>
                <a:ea typeface="Calibri"/>
              </a:rPr>
              <a:t>Alexander Vasilopoulos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7240" y="2697480"/>
            <a:ext cx="105138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Olist Ecommerce Analytics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3794760"/>
            <a:ext cx="9599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DF1D6"/>
                </a:solidFill>
                <a:effectLst/>
                <a:uFillTx/>
                <a:latin typeface="Calibri"/>
                <a:ea typeface="Calibri"/>
              </a:rPr>
              <a:t>A Power BI all-round view of sales, deliveries, customers, regions and marketing insights across 98,000 orders from 2016 to 2018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822960" y="5989320"/>
            <a:ext cx="126360" cy="126360"/>
          </a:xfrm>
          <a:prstGeom prst="rect">
            <a:avLst/>
          </a:prstGeom>
          <a:solidFill>
            <a:srgbClr val="D85A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360" tIns="45000" rIns="6336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1097280" y="5870520"/>
            <a:ext cx="7313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DF1D6"/>
                </a:solidFill>
                <a:effectLst/>
                <a:uFillTx/>
                <a:latin typeface="Calibri"/>
                <a:ea typeface="Calibri"/>
              </a:rPr>
              <a:t>Power BI  ·  DAX  ·  Power Query  ·  Data Modeling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What to expect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548640" y="1874520"/>
            <a:ext cx="8211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97C459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1554480" y="1892880"/>
            <a:ext cx="420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The project</a:t>
            </a:r>
            <a:endParaRPr lang="en-GB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1554480" y="2240280"/>
            <a:ext cx="804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Dataset, framework and key questions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548640" y="2752200"/>
            <a:ext cx="8211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97C459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1554480" y="2770560"/>
            <a:ext cx="420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Sales and customers</a:t>
            </a:r>
            <a:endParaRPr lang="en-GB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1554480" y="3117960"/>
            <a:ext cx="804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Revenue, top categories and customer regions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548640" y="3630240"/>
            <a:ext cx="8211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97C459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1554480" y="3648600"/>
            <a:ext cx="420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Delivery and customer satisfaction</a:t>
            </a:r>
            <a:endParaRPr lang="en-GB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1554480" y="3996000"/>
            <a:ext cx="804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Impact of delivery delays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548640" y="4507920"/>
            <a:ext cx="8211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97C459"/>
                </a:solidFill>
                <a:effectLst/>
                <a:uFillTx/>
                <a:latin typeface="Cambria"/>
                <a:ea typeface="Cambria"/>
              </a:rPr>
              <a:t>04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2"/>
          <p:cNvSpPr/>
          <p:nvPr/>
        </p:nvSpPr>
        <p:spPr>
          <a:xfrm>
            <a:off x="1554480" y="4526280"/>
            <a:ext cx="420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Marketing &amp; seller analysis</a:t>
            </a:r>
            <a:endParaRPr lang="en-GB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1554480" y="4873680"/>
            <a:ext cx="804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Marketing leads and seller KPIs under the microscope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548640" y="5385960"/>
            <a:ext cx="8211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97C459"/>
                </a:solidFill>
                <a:effectLst/>
                <a:uFillTx/>
                <a:latin typeface="Cambria"/>
                <a:ea typeface="Cambria"/>
              </a:rPr>
              <a:t>05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1554480" y="5403960"/>
            <a:ext cx="420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Conclusion</a:t>
            </a:r>
            <a:endParaRPr lang="en-GB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6"/>
          <p:cNvSpPr/>
          <p:nvPr/>
        </p:nvSpPr>
        <p:spPr>
          <a:xfrm>
            <a:off x="1554480" y="5751720"/>
            <a:ext cx="8044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Recommendations and conclusions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7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The project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Olist: anonymized data from a real Brazilian marketplace business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548640" y="1783080"/>
            <a:ext cx="5941800" cy="182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Olist connects small businesses with large marketplaces across Brazil. This dataset covers roughly 98,000 orders from 2016 to 2018 and includes orders, products, customers, sellers, reviews and payments – plus a marketing funnel for leads that led to orders.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548640" y="3794760"/>
            <a:ext cx="594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Guiding question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548640" y="4160520"/>
            <a:ext cx="5941800" cy="1369800"/>
          </a:xfrm>
          <a:prstGeom prst="roundRect">
            <a:avLst>
              <a:gd name="adj" fmla="val 5333"/>
            </a:avLst>
          </a:prstGeom>
          <a:solidFill>
            <a:srgbClr val="EDF1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822960" y="4297680"/>
            <a:ext cx="539316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4A5D3A"/>
                </a:solidFill>
                <a:effectLst/>
                <a:uFillTx/>
                <a:latin typeface="Cambria"/>
                <a:ea typeface="Cambria"/>
              </a:rPr>
              <a:t>“Where does Olist win customers, where does it lose them, and which marketing leads are actually worth investing in?”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6903720" y="1783080"/>
            <a:ext cx="4753080" cy="4158720"/>
          </a:xfrm>
          <a:prstGeom prst="roundRect">
            <a:avLst>
              <a:gd name="adj" fmla="val 1758"/>
            </a:avLst>
          </a:prstGeom>
          <a:solidFill>
            <a:srgbClr val="4A5D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7223760" y="2011680"/>
            <a:ext cx="4113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rgbClr val="97C459"/>
                </a:solidFill>
                <a:effectLst/>
                <a:uFillTx/>
                <a:latin typeface="Calibri"/>
                <a:ea typeface="Calibri"/>
              </a:rPr>
              <a:t>Power BI – report structure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8"/>
          <p:cNvSpPr/>
          <p:nvPr/>
        </p:nvSpPr>
        <p:spPr>
          <a:xfrm>
            <a:off x="7223760" y="254196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7223760" y="254196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7589520" y="251460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Executive Overview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7223760" y="309060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7223760" y="309060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7589520" y="306324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Sales &amp; Products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4"/>
          <p:cNvSpPr/>
          <p:nvPr/>
        </p:nvSpPr>
        <p:spPr>
          <a:xfrm>
            <a:off x="7223760" y="363924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7223760" y="363924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7589520" y="361188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Customers &amp; Region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7223760" y="418788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7223760" y="418788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7589520" y="416052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Delivery &amp; Logistics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7223760" y="473652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7223760" y="473652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7589520" y="470916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Marketing Analysis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7223760" y="5285160"/>
            <a:ext cx="199440" cy="199440"/>
          </a:xfrm>
          <a:prstGeom prst="ellipse">
            <a:avLst/>
          </a:prstGeom>
          <a:solidFill>
            <a:srgbClr val="97C4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7223760" y="5285160"/>
            <a:ext cx="1994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7589520" y="5257800"/>
            <a:ext cx="3838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Drillthrough detail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6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The project – dashboard overview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The company at a glance </a:t>
            </a:r>
            <a:br>
              <a:rPr sz="3200"/>
            </a:b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- Dashboard teaser -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6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1691640" y="1620000"/>
            <a:ext cx="8807400" cy="489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Sales and customers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Where does the revenue come from?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945360" y="3854160"/>
            <a:ext cx="48132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- The Southeast alone generates about 67% of total revenue – owing to high population density on the one hand and better logistics on the other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"/>
          <p:cNvGrpSpPr/>
          <p:nvPr/>
        </p:nvGrpSpPr>
        <p:grpSpPr>
          <a:xfrm>
            <a:off x="3765600" y="4681800"/>
            <a:ext cx="4930560" cy="1870560"/>
            <a:chOff x="3765600" y="4681800"/>
            <a:chExt cx="4930560" cy="1870560"/>
          </a:xfrm>
        </p:grpSpPr>
        <p:sp>
          <p:nvSpPr>
            <p:cNvPr id="70" name="Shape 4"/>
            <p:cNvSpPr/>
            <p:nvPr/>
          </p:nvSpPr>
          <p:spPr>
            <a:xfrm>
              <a:off x="3765600" y="4781520"/>
              <a:ext cx="4930560" cy="1770840"/>
            </a:xfrm>
            <a:prstGeom prst="roundRect">
              <a:avLst>
                <a:gd name="adj" fmla="val 3137"/>
              </a:avLst>
            </a:prstGeom>
            <a:solidFill>
              <a:srgbClr val="4A5D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 5"/>
            <p:cNvSpPr/>
            <p:nvPr/>
          </p:nvSpPr>
          <p:spPr>
            <a:xfrm>
              <a:off x="3765600" y="4681800"/>
              <a:ext cx="4930560" cy="76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5200" b="1" u="none" strike="noStrike">
                  <a:solidFill>
                    <a:srgbClr val="FFFFFF"/>
                  </a:solidFill>
                  <a:effectLst/>
                  <a:uFillTx/>
                  <a:latin typeface="Cambria"/>
                  <a:ea typeface="Cambria"/>
                </a:rPr>
                <a:t>97%</a:t>
              </a:r>
              <a:endPara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 6"/>
            <p:cNvSpPr/>
            <p:nvPr/>
          </p:nvSpPr>
          <p:spPr>
            <a:xfrm>
              <a:off x="3765600" y="5493960"/>
              <a:ext cx="4930560" cy="275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0" u="none" strike="noStrike">
                  <a:solidFill>
                    <a:srgbClr val="EDF1D6"/>
                  </a:solidFill>
                  <a:effectLst/>
                  <a:uFillTx/>
                  <a:latin typeface="Calibri"/>
                  <a:ea typeface="Calibri"/>
                </a:rPr>
                <a:t>of customers order only once</a:t>
              </a:r>
              <a:endParaRPr lang="en-GB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 7"/>
            <p:cNvSpPr/>
            <p:nvPr/>
          </p:nvSpPr>
          <p:spPr>
            <a:xfrm>
              <a:off x="4105800" y="5985000"/>
              <a:ext cx="4250160" cy="45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30000"/>
                </a:lnSpc>
                <a:tabLst>
                  <a:tab pos="0" algn="l"/>
                </a:tabLst>
              </a:pPr>
              <a:r>
                <a:rPr lang="en-US" sz="1050" b="0" u="none" strike="noStrike">
                  <a:solidFill>
                    <a:srgbClr val="EDF1D6"/>
                  </a:solidFill>
                  <a:effectLst/>
                  <a:uFillTx/>
                  <a:latin typeface="Calibri"/>
                  <a:ea typeface="Calibri"/>
                </a:rPr>
                <a:t>Only 2.9% of the 96,000 customers came back — growth here is</a:t>
              </a:r>
              <a:endParaRPr lang="en-GB" sz="1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ct val="130000"/>
                </a:lnSpc>
                <a:tabLst>
                  <a:tab pos="0" algn="l"/>
                </a:tabLst>
              </a:pPr>
              <a:r>
                <a:rPr lang="en-US" sz="1050" b="0" u="none" strike="noStrike">
                  <a:solidFill>
                    <a:srgbClr val="EDF1D6"/>
                  </a:solidFill>
                  <a:effectLst/>
                  <a:uFillTx/>
                  <a:latin typeface="Calibri"/>
                  <a:ea typeface="Calibri"/>
                </a:rPr>
                <a:t>driven almost entirely by new-customer acquisition, not by retention.</a:t>
              </a:r>
              <a:endParaRPr lang="en-GB" sz="1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 9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894240" y="1805760"/>
            <a:ext cx="4593600" cy="179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/>
          <p:cNvPicPr/>
          <p:nvPr/>
        </p:nvPicPr>
        <p:blipFill>
          <a:blip r:embed="rId2"/>
          <a:stretch/>
        </p:blipFill>
        <p:spPr>
          <a:xfrm>
            <a:off x="6909120" y="1800000"/>
            <a:ext cx="4609440" cy="17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20"/>
          <p:cNvSpPr/>
          <p:nvPr/>
        </p:nvSpPr>
        <p:spPr>
          <a:xfrm>
            <a:off x="6845400" y="3852000"/>
            <a:ext cx="5213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- Despite having the lowest volume, the North region has the highest average order value, probably due to higher freight costs on long-distance shipments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Delivery times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Delivery issues and customer satisfaction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"/>
          <p:cNvSpPr/>
          <p:nvPr/>
        </p:nvSpPr>
        <p:spPr>
          <a:xfrm>
            <a:off x="1268640" y="1783080"/>
            <a:ext cx="17712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4A5D3A"/>
                </a:solidFill>
                <a:effectLst/>
                <a:uFillTx/>
                <a:latin typeface="Cambria"/>
                <a:ea typeface="Cambria"/>
              </a:rPr>
              <a:t>12.4 days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1287360" y="2195640"/>
            <a:ext cx="2050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Average delivery time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5449680" y="1800000"/>
            <a:ext cx="12088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4A5D3A"/>
                </a:solidFill>
                <a:effectLst/>
                <a:uFillTx/>
                <a:latin typeface="Cambria"/>
                <a:ea typeface="Cambria"/>
              </a:rPr>
              <a:t>93.2%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5449680" y="2176560"/>
            <a:ext cx="1208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On-time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7254720" y="1783080"/>
            <a:ext cx="15638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4A5D3A"/>
                </a:solidFill>
                <a:effectLst/>
                <a:uFillTx/>
                <a:latin typeface="Cambria"/>
                <a:ea typeface="Cambria"/>
              </a:rPr>
              <a:t>6.8%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7"/>
          <p:cNvSpPr/>
          <p:nvPr/>
        </p:nvSpPr>
        <p:spPr>
          <a:xfrm>
            <a:off x="7254720" y="2195640"/>
            <a:ext cx="15638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Late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1371960" y="2880000"/>
            <a:ext cx="8886600" cy="341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23"/>
          <p:cNvSpPr/>
          <p:nvPr/>
        </p:nvSpPr>
        <p:spPr>
          <a:xfrm>
            <a:off x="3320640" y="1783080"/>
            <a:ext cx="17712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4A5D3A"/>
                </a:solidFill>
                <a:effectLst/>
                <a:uFillTx/>
                <a:latin typeface="Cambria"/>
                <a:ea typeface="Cambria"/>
              </a:rPr>
              <a:t>24.4 days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3339360" y="2267640"/>
            <a:ext cx="187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Average delivery window to count as “on-time”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548640" y="4402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Marketing &amp; seller analysis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548640" y="7419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Seller scoring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548640" y="1811880"/>
            <a:ext cx="539316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My scoring model: it rates the 379 sellers who went through Olist’s marketing tool, combining revenue, closing speed and order volume into one comparable score.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548640" y="3310920"/>
            <a:ext cx="5393160" cy="2695680"/>
          </a:xfrm>
          <a:prstGeom prst="roundRect">
            <a:avLst>
              <a:gd name="adj" fmla="val 2712"/>
            </a:avLst>
          </a:prstGeom>
          <a:solidFill>
            <a:srgbClr val="EDF1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822960" y="3485160"/>
            <a:ext cx="4844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5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Origin x Lead type: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pc="5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- organic search and paid search are the most effective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pc="5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- ...but many orders have no known origin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6309360" y="1811880"/>
            <a:ext cx="53017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Seller tier distribution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8"/>
          <p:cNvSpPr/>
          <p:nvPr/>
        </p:nvSpPr>
        <p:spPr>
          <a:xfrm>
            <a:off x="6309360" y="5148000"/>
            <a:ext cx="5301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Score = weighted combination of revenue, time to close and order volume – calculated relative to the seller average to avoid distortion from outliers.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Maximum score: 9 points.</a:t>
            </a:r>
            <a:br>
              <a:rPr sz="1100"/>
            </a:b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11548800" y="64296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tretch/>
        </p:blipFill>
        <p:spPr>
          <a:xfrm>
            <a:off x="972000" y="3977640"/>
            <a:ext cx="4498560" cy="196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"/>
          <p:cNvPicPr/>
          <p:nvPr/>
        </p:nvPicPr>
        <p:blipFill>
          <a:blip r:embed="rId2"/>
          <a:stretch/>
        </p:blipFill>
        <p:spPr>
          <a:xfrm>
            <a:off x="6316560" y="2129040"/>
            <a:ext cx="5454360" cy="266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548640" y="411480"/>
            <a:ext cx="7313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4A5D3A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548640" y="713160"/>
            <a:ext cx="1106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What Olist can do now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48640" y="1783080"/>
            <a:ext cx="455400" cy="455400"/>
          </a:xfrm>
          <a:prstGeom prst="roundRect">
            <a:avLst>
              <a:gd name="adj" fmla="val 12000"/>
            </a:avLst>
          </a:prstGeom>
          <a:solidFill>
            <a:srgbClr val="4A5D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548640" y="178308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4"/>
          <p:cNvSpPr/>
          <p:nvPr/>
        </p:nvSpPr>
        <p:spPr>
          <a:xfrm>
            <a:off x="1234440" y="175572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Review marketing origin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1234440" y="211212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A large share of high-value leads has no traceable origin.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6"/>
          <p:cNvSpPr/>
          <p:nvPr/>
        </p:nvSpPr>
        <p:spPr>
          <a:xfrm>
            <a:off x="548640" y="2834640"/>
            <a:ext cx="455400" cy="455400"/>
          </a:xfrm>
          <a:prstGeom prst="roundRect">
            <a:avLst>
              <a:gd name="adj" fmla="val 12000"/>
            </a:avLst>
          </a:prstGeom>
          <a:solidFill>
            <a:srgbClr val="D85A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"/>
          <p:cNvSpPr/>
          <p:nvPr/>
        </p:nvSpPr>
        <p:spPr>
          <a:xfrm>
            <a:off x="548640" y="283464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8"/>
          <p:cNvSpPr/>
          <p:nvPr/>
        </p:nvSpPr>
        <p:spPr>
          <a:xfrm>
            <a:off x="1234440" y="280728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Lean more on organic and paid search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9"/>
          <p:cNvSpPr/>
          <p:nvPr/>
        </p:nvSpPr>
        <p:spPr>
          <a:xfrm>
            <a:off x="1234440" y="316368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For the industry and large online customer segments, these channels convert leads into revenue fastest and at the greatest scale.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0"/>
          <p:cNvSpPr/>
          <p:nvPr/>
        </p:nvSpPr>
        <p:spPr>
          <a:xfrm>
            <a:off x="548640" y="3886200"/>
            <a:ext cx="455400" cy="455400"/>
          </a:xfrm>
          <a:prstGeom prst="roundRect">
            <a:avLst>
              <a:gd name="adj" fmla="val 12000"/>
            </a:avLst>
          </a:prstGeom>
          <a:solidFill>
            <a:srgbClr val="4A5D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1"/>
          <p:cNvSpPr/>
          <p:nvPr/>
        </p:nvSpPr>
        <p:spPr>
          <a:xfrm>
            <a:off x="548640" y="388620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2"/>
          <p:cNvSpPr/>
          <p:nvPr/>
        </p:nvSpPr>
        <p:spPr>
          <a:xfrm>
            <a:off x="1234440" y="385884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Investigate logistics in the North region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3"/>
          <p:cNvSpPr/>
          <p:nvPr/>
        </p:nvSpPr>
        <p:spPr>
          <a:xfrm>
            <a:off x="1234440" y="421524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The slowest delivery times and a direct link between delays and worse reviews – the biggest lever for improving satisfaction.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4"/>
          <p:cNvSpPr/>
          <p:nvPr/>
        </p:nvSpPr>
        <p:spPr>
          <a:xfrm>
            <a:off x="548640" y="4937760"/>
            <a:ext cx="455400" cy="455400"/>
          </a:xfrm>
          <a:prstGeom prst="roundRect">
            <a:avLst>
              <a:gd name="adj" fmla="val 12000"/>
            </a:avLst>
          </a:prstGeom>
          <a:solidFill>
            <a:srgbClr val="D85A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5"/>
          <p:cNvSpPr/>
          <p:nvPr/>
        </p:nvSpPr>
        <p:spPr>
          <a:xfrm>
            <a:off x="548640" y="493776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6"/>
          <p:cNvSpPr/>
          <p:nvPr/>
        </p:nvSpPr>
        <p:spPr>
          <a:xfrm>
            <a:off x="1234440" y="4910400"/>
            <a:ext cx="1005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2B2B"/>
                </a:solidFill>
                <a:effectLst/>
                <a:uFillTx/>
                <a:latin typeface="Cambria"/>
                <a:ea typeface="Cambria"/>
              </a:rPr>
              <a:t>Develop a customer retention strategy.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7"/>
          <p:cNvSpPr/>
          <p:nvPr/>
        </p:nvSpPr>
        <p:spPr>
          <a:xfrm>
            <a:off x="1234440" y="526680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A 97% share of one-time buyers points to a purely new-customer base; even a small incentive for repeat purchases compounds quickly.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8"/>
          <p:cNvSpPr/>
          <p:nvPr/>
        </p:nvSpPr>
        <p:spPr>
          <a:xfrm>
            <a:off x="11548800" y="6400800"/>
            <a:ext cx="36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566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A5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-2560320" y="-2286000"/>
            <a:ext cx="5484600" cy="5484600"/>
          </a:xfrm>
          <a:prstGeom prst="ellipse">
            <a:avLst/>
          </a:prstGeom>
          <a:solidFill>
            <a:srgbClr val="3E4E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777240" y="3017520"/>
            <a:ext cx="105138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 for your attention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822960" y="4023360"/>
            <a:ext cx="9975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DF1D6"/>
                </a:solidFill>
                <a:effectLst/>
                <a:uFillTx/>
                <a:latin typeface="Calibri"/>
                <a:ea typeface="Calibri"/>
              </a:rPr>
              <a:t>The complete, interactive report is available to you - by Alexander_Vasilopoulos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LibreOffice/26.2.6.3$Windows_X86_64 LibreOffice_project/8221e31b3ac356a1623c672912a3d2b492f7e3d1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2026-07-23T08:26:30Z</dcterms:created>
  <dc:creator>PptxGenJS</dc:creator>
  <dc:description/>
  <dc:language>en-GB</dc:language>
  <cp:lastModifiedBy/>
  <dcterms:modified xsi:type="dcterms:W3CDTF">2026-10-13T16:54:59Z</dcterms:modified>
  <cp:revision>10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